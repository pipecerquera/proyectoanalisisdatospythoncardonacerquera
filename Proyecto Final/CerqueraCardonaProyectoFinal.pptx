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63" r:id="rId3"/>
    <p:sldId id="260" r:id="rId4"/>
    <p:sldId id="261" r:id="rId5"/>
    <p:sldId id="264" r:id="rId6"/>
    <p:sldId id="265" r:id="rId7"/>
    <p:sldId id="266" r:id="rId8"/>
    <p:sldId id="267" r:id="rId9"/>
  </p:sldIdLst>
  <p:sldSz cx="12193588" cy="6858000"/>
  <p:notesSz cx="6858000" cy="9144000"/>
  <p:defaultTextStyle>
    <a:defPPr>
      <a:defRPr lang="es-ES"/>
    </a:defPPr>
    <a:lvl1pPr marL="0" algn="l" defTabSz="562198" rtl="0" eaLnBrk="1" latinLnBrk="0" hangingPunct="1">
      <a:defRPr sz="2266" kern="1200">
        <a:solidFill>
          <a:schemeClr val="tx1"/>
        </a:solidFill>
        <a:latin typeface="+mn-lt"/>
        <a:ea typeface="+mn-ea"/>
        <a:cs typeface="+mn-cs"/>
      </a:defRPr>
    </a:lvl1pPr>
    <a:lvl2pPr marL="562198" algn="l" defTabSz="562198" rtl="0" eaLnBrk="1" latinLnBrk="0" hangingPunct="1">
      <a:defRPr sz="2266" kern="1200">
        <a:solidFill>
          <a:schemeClr val="tx1"/>
        </a:solidFill>
        <a:latin typeface="+mn-lt"/>
        <a:ea typeface="+mn-ea"/>
        <a:cs typeface="+mn-cs"/>
      </a:defRPr>
    </a:lvl2pPr>
    <a:lvl3pPr marL="1124395" algn="l" defTabSz="562198" rtl="0" eaLnBrk="1" latinLnBrk="0" hangingPunct="1">
      <a:defRPr sz="2266" kern="1200">
        <a:solidFill>
          <a:schemeClr val="tx1"/>
        </a:solidFill>
        <a:latin typeface="+mn-lt"/>
        <a:ea typeface="+mn-ea"/>
        <a:cs typeface="+mn-cs"/>
      </a:defRPr>
    </a:lvl3pPr>
    <a:lvl4pPr marL="1686592" algn="l" defTabSz="562198" rtl="0" eaLnBrk="1" latinLnBrk="0" hangingPunct="1">
      <a:defRPr sz="2266" kern="1200">
        <a:solidFill>
          <a:schemeClr val="tx1"/>
        </a:solidFill>
        <a:latin typeface="+mn-lt"/>
        <a:ea typeface="+mn-ea"/>
        <a:cs typeface="+mn-cs"/>
      </a:defRPr>
    </a:lvl4pPr>
    <a:lvl5pPr marL="2248788" algn="l" defTabSz="562198" rtl="0" eaLnBrk="1" latinLnBrk="0" hangingPunct="1">
      <a:defRPr sz="2266" kern="1200">
        <a:solidFill>
          <a:schemeClr val="tx1"/>
        </a:solidFill>
        <a:latin typeface="+mn-lt"/>
        <a:ea typeface="+mn-ea"/>
        <a:cs typeface="+mn-cs"/>
      </a:defRPr>
    </a:lvl5pPr>
    <a:lvl6pPr marL="2810986" algn="l" defTabSz="562198" rtl="0" eaLnBrk="1" latinLnBrk="0" hangingPunct="1">
      <a:defRPr sz="2266" kern="1200">
        <a:solidFill>
          <a:schemeClr val="tx1"/>
        </a:solidFill>
        <a:latin typeface="+mn-lt"/>
        <a:ea typeface="+mn-ea"/>
        <a:cs typeface="+mn-cs"/>
      </a:defRPr>
    </a:lvl6pPr>
    <a:lvl7pPr marL="3373183" algn="l" defTabSz="562198" rtl="0" eaLnBrk="1" latinLnBrk="0" hangingPunct="1">
      <a:defRPr sz="2266" kern="1200">
        <a:solidFill>
          <a:schemeClr val="tx1"/>
        </a:solidFill>
        <a:latin typeface="+mn-lt"/>
        <a:ea typeface="+mn-ea"/>
        <a:cs typeface="+mn-cs"/>
      </a:defRPr>
    </a:lvl7pPr>
    <a:lvl8pPr marL="3935381" algn="l" defTabSz="562198" rtl="0" eaLnBrk="1" latinLnBrk="0" hangingPunct="1">
      <a:defRPr sz="2266" kern="1200">
        <a:solidFill>
          <a:schemeClr val="tx1"/>
        </a:solidFill>
        <a:latin typeface="+mn-lt"/>
        <a:ea typeface="+mn-ea"/>
        <a:cs typeface="+mn-cs"/>
      </a:defRPr>
    </a:lvl8pPr>
    <a:lvl9pPr marL="4497579" algn="l" defTabSz="562198" rtl="0" eaLnBrk="1" latinLnBrk="0" hangingPunct="1">
      <a:defRPr sz="226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26"/>
    <p:restoredTop sz="94666"/>
  </p:normalViewPr>
  <p:slideViewPr>
    <p:cSldViewPr snapToGrid="0" snapToObjects="1">
      <p:cViewPr varScale="1">
        <p:scale>
          <a:sx n="49" d="100"/>
          <a:sy n="49" d="100"/>
        </p:scale>
        <p:origin x="43" y="749"/>
      </p:cViewPr>
      <p:guideLst>
        <p:guide orient="horz" pos="2161"/>
        <p:guide pos="384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DB08DA41-61FB-244B-A279-91BD97CDB0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94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69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51D69CAD-EBB2-5A42-989F-E9AE1EEBA9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433" y="0"/>
            <a:ext cx="12180722" cy="68580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9BFE3CA-17F0-3E42-92B0-C63C49C9495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261" y="1388"/>
            <a:ext cx="12187066" cy="6855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42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211" y="4406902"/>
            <a:ext cx="10364550" cy="1362075"/>
          </a:xfrm>
          <a:prstGeom prst="rect">
            <a:avLst/>
          </a:prstGeom>
        </p:spPr>
        <p:txBody>
          <a:bodyPr anchor="t"/>
          <a:lstStyle>
            <a:lvl1pPr algn="l">
              <a:defRPr sz="4819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211" y="2906715"/>
            <a:ext cx="1036455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344">
                <a:solidFill>
                  <a:schemeClr val="tx1">
                    <a:tint val="75000"/>
                  </a:schemeClr>
                </a:solidFill>
              </a:defRPr>
            </a:lvl1pPr>
            <a:lvl2pPr marL="549164" indent="0">
              <a:buNone/>
              <a:defRPr sz="2214">
                <a:solidFill>
                  <a:schemeClr val="tx1">
                    <a:tint val="75000"/>
                  </a:schemeClr>
                </a:solidFill>
              </a:defRPr>
            </a:lvl2pPr>
            <a:lvl3pPr marL="1098327" indent="0">
              <a:buNone/>
              <a:defRPr sz="1954">
                <a:solidFill>
                  <a:schemeClr val="tx1">
                    <a:tint val="75000"/>
                  </a:schemeClr>
                </a:solidFill>
              </a:defRPr>
            </a:lvl3pPr>
            <a:lvl4pPr marL="1647491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4pPr>
            <a:lvl5pPr marL="2196653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5pPr>
            <a:lvl6pPr marL="2745817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6pPr>
            <a:lvl7pPr marL="3294981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7pPr>
            <a:lvl8pPr marL="3844144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8pPr>
            <a:lvl9pPr marL="4393308" indent="0">
              <a:buNone/>
              <a:defRPr sz="169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92E13E6D-85F5-0941-AD3B-DE6BB31EB06E}" type="datetimeFigureOut">
              <a:rPr lang="es-ES" smtClean="0"/>
              <a:t>11/12/2025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09E8914F-B8EF-0744-802A-5B8F87E583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3192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81" y="274638"/>
            <a:ext cx="10974230" cy="1143000"/>
          </a:xfrm>
          <a:prstGeom prst="rect">
            <a:avLst/>
          </a:prstGeo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79" y="1600200"/>
            <a:ext cx="5385501" cy="4525963"/>
          </a:xfrm>
          <a:prstGeom prst="rect">
            <a:avLst/>
          </a:prstGeom>
        </p:spPr>
        <p:txBody>
          <a:bodyPr/>
          <a:lstStyle>
            <a:lvl1pPr>
              <a:defRPr sz="3387"/>
            </a:lvl1pPr>
            <a:lvl2pPr>
              <a:defRPr sz="2865"/>
            </a:lvl2pPr>
            <a:lvl3pPr>
              <a:defRPr sz="2344"/>
            </a:lvl3pPr>
            <a:lvl4pPr>
              <a:defRPr sz="2214"/>
            </a:lvl4pPr>
            <a:lvl5pPr>
              <a:defRPr sz="2214"/>
            </a:lvl5pPr>
            <a:lvl6pPr>
              <a:defRPr sz="2214"/>
            </a:lvl6pPr>
            <a:lvl7pPr>
              <a:defRPr sz="2214"/>
            </a:lvl7pPr>
            <a:lvl8pPr>
              <a:defRPr sz="2214"/>
            </a:lvl8pPr>
            <a:lvl9pPr>
              <a:defRPr sz="2214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8409" y="1600200"/>
            <a:ext cx="5385501" cy="4525963"/>
          </a:xfrm>
          <a:prstGeom prst="rect">
            <a:avLst/>
          </a:prstGeom>
        </p:spPr>
        <p:txBody>
          <a:bodyPr/>
          <a:lstStyle>
            <a:lvl1pPr>
              <a:defRPr sz="3387"/>
            </a:lvl1pPr>
            <a:lvl2pPr>
              <a:defRPr sz="2865"/>
            </a:lvl2pPr>
            <a:lvl3pPr>
              <a:defRPr sz="2344"/>
            </a:lvl3pPr>
            <a:lvl4pPr>
              <a:defRPr sz="2214"/>
            </a:lvl4pPr>
            <a:lvl5pPr>
              <a:defRPr sz="2214"/>
            </a:lvl5pPr>
            <a:lvl6pPr>
              <a:defRPr sz="2214"/>
            </a:lvl6pPr>
            <a:lvl7pPr>
              <a:defRPr sz="2214"/>
            </a:lvl7pPr>
            <a:lvl8pPr>
              <a:defRPr sz="2214"/>
            </a:lvl8pPr>
            <a:lvl9pPr>
              <a:defRPr sz="2214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92E13E6D-85F5-0941-AD3B-DE6BB31EB06E}" type="datetimeFigureOut">
              <a:rPr lang="es-ES" smtClean="0"/>
              <a:t>11/12/2025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09E8914F-B8EF-0744-802A-5B8F87E583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33460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81" y="274638"/>
            <a:ext cx="1097423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79" y="1535113"/>
            <a:ext cx="5387619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65" b="1"/>
            </a:lvl1pPr>
            <a:lvl2pPr marL="549164" indent="0">
              <a:buNone/>
              <a:defRPr sz="2344" b="1"/>
            </a:lvl2pPr>
            <a:lvl3pPr marL="1098327" indent="0">
              <a:buNone/>
              <a:defRPr sz="2214" b="1"/>
            </a:lvl3pPr>
            <a:lvl4pPr marL="1647491" indent="0">
              <a:buNone/>
              <a:defRPr sz="1954" b="1"/>
            </a:lvl4pPr>
            <a:lvl5pPr marL="2196653" indent="0">
              <a:buNone/>
              <a:defRPr sz="1954" b="1"/>
            </a:lvl5pPr>
            <a:lvl6pPr marL="2745817" indent="0">
              <a:buNone/>
              <a:defRPr sz="1954" b="1"/>
            </a:lvl6pPr>
            <a:lvl7pPr marL="3294981" indent="0">
              <a:buNone/>
              <a:defRPr sz="1954" b="1"/>
            </a:lvl7pPr>
            <a:lvl8pPr marL="3844144" indent="0">
              <a:buNone/>
              <a:defRPr sz="1954" b="1"/>
            </a:lvl8pPr>
            <a:lvl9pPr marL="4393308" indent="0">
              <a:buNone/>
              <a:defRPr sz="1954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79" y="2174876"/>
            <a:ext cx="5387619" cy="3951288"/>
          </a:xfrm>
          <a:prstGeom prst="rect">
            <a:avLst/>
          </a:prstGeom>
        </p:spPr>
        <p:txBody>
          <a:bodyPr/>
          <a:lstStyle>
            <a:lvl1pPr>
              <a:defRPr sz="2865"/>
            </a:lvl1pPr>
            <a:lvl2pPr>
              <a:defRPr sz="2344"/>
            </a:lvl2pPr>
            <a:lvl3pPr>
              <a:defRPr sz="2214"/>
            </a:lvl3pPr>
            <a:lvl4pPr>
              <a:defRPr sz="1954"/>
            </a:lvl4pPr>
            <a:lvl5pPr>
              <a:defRPr sz="1954"/>
            </a:lvl5pPr>
            <a:lvl6pPr>
              <a:defRPr sz="1954"/>
            </a:lvl6pPr>
            <a:lvl7pPr>
              <a:defRPr sz="1954"/>
            </a:lvl7pPr>
            <a:lvl8pPr>
              <a:defRPr sz="1954"/>
            </a:lvl8pPr>
            <a:lvl9pPr>
              <a:defRPr sz="1954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4176" y="1535113"/>
            <a:ext cx="5389735" cy="63976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65" b="1"/>
            </a:lvl1pPr>
            <a:lvl2pPr marL="549164" indent="0">
              <a:buNone/>
              <a:defRPr sz="2344" b="1"/>
            </a:lvl2pPr>
            <a:lvl3pPr marL="1098327" indent="0">
              <a:buNone/>
              <a:defRPr sz="2214" b="1"/>
            </a:lvl3pPr>
            <a:lvl4pPr marL="1647491" indent="0">
              <a:buNone/>
              <a:defRPr sz="1954" b="1"/>
            </a:lvl4pPr>
            <a:lvl5pPr marL="2196653" indent="0">
              <a:buNone/>
              <a:defRPr sz="1954" b="1"/>
            </a:lvl5pPr>
            <a:lvl6pPr marL="2745817" indent="0">
              <a:buNone/>
              <a:defRPr sz="1954" b="1"/>
            </a:lvl6pPr>
            <a:lvl7pPr marL="3294981" indent="0">
              <a:buNone/>
              <a:defRPr sz="1954" b="1"/>
            </a:lvl7pPr>
            <a:lvl8pPr marL="3844144" indent="0">
              <a:buNone/>
              <a:defRPr sz="1954" b="1"/>
            </a:lvl8pPr>
            <a:lvl9pPr marL="4393308" indent="0">
              <a:buNone/>
              <a:defRPr sz="1954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4176" y="2174876"/>
            <a:ext cx="5389735" cy="3951288"/>
          </a:xfrm>
          <a:prstGeom prst="rect">
            <a:avLst/>
          </a:prstGeom>
        </p:spPr>
        <p:txBody>
          <a:bodyPr/>
          <a:lstStyle>
            <a:lvl1pPr>
              <a:defRPr sz="2865"/>
            </a:lvl1pPr>
            <a:lvl2pPr>
              <a:defRPr sz="2344"/>
            </a:lvl2pPr>
            <a:lvl3pPr>
              <a:defRPr sz="2214"/>
            </a:lvl3pPr>
            <a:lvl4pPr>
              <a:defRPr sz="1954"/>
            </a:lvl4pPr>
            <a:lvl5pPr>
              <a:defRPr sz="1954"/>
            </a:lvl5pPr>
            <a:lvl6pPr>
              <a:defRPr sz="1954"/>
            </a:lvl6pPr>
            <a:lvl7pPr>
              <a:defRPr sz="1954"/>
            </a:lvl7pPr>
            <a:lvl8pPr>
              <a:defRPr sz="1954"/>
            </a:lvl8pPr>
            <a:lvl9pPr>
              <a:defRPr sz="1954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92E13E6D-85F5-0941-AD3B-DE6BB31EB06E}" type="datetimeFigureOut">
              <a:rPr lang="es-ES" smtClean="0"/>
              <a:t>11/12/2025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09E8914F-B8EF-0744-802A-5B8F87E583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7240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81" y="274638"/>
            <a:ext cx="10974230" cy="1143000"/>
          </a:xfrm>
          <a:prstGeom prst="rect">
            <a:avLst/>
          </a:prstGeo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92E13E6D-85F5-0941-AD3B-DE6BB31EB06E}" type="datetimeFigureOut">
              <a:rPr lang="es-ES" smtClean="0"/>
              <a:t>11/12/2025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09E8914F-B8EF-0744-802A-5B8F87E583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4005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92E13E6D-85F5-0941-AD3B-DE6BB31EB06E}" type="datetimeFigureOut">
              <a:rPr lang="es-ES" smtClean="0"/>
              <a:t>11/12/2025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09E8914F-B8EF-0744-802A-5B8F87E583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2366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82" y="273051"/>
            <a:ext cx="4011605" cy="1162049"/>
          </a:xfrm>
          <a:prstGeom prst="rect">
            <a:avLst/>
          </a:prstGeom>
        </p:spPr>
        <p:txBody>
          <a:bodyPr anchor="b"/>
          <a:lstStyle>
            <a:lvl1pPr algn="l">
              <a:defRPr sz="2344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767355" y="273051"/>
            <a:ext cx="6816554" cy="5853113"/>
          </a:xfrm>
          <a:prstGeom prst="rect">
            <a:avLst/>
          </a:prstGeom>
        </p:spPr>
        <p:txBody>
          <a:bodyPr/>
          <a:lstStyle>
            <a:lvl1pPr>
              <a:defRPr sz="3907"/>
            </a:lvl1pPr>
            <a:lvl2pPr>
              <a:defRPr sz="3387"/>
            </a:lvl2pPr>
            <a:lvl3pPr>
              <a:defRPr sz="2865"/>
            </a:lvl3pPr>
            <a:lvl4pPr>
              <a:defRPr sz="2344"/>
            </a:lvl4pPr>
            <a:lvl5pPr>
              <a:defRPr sz="2344"/>
            </a:lvl5pPr>
            <a:lvl6pPr>
              <a:defRPr sz="2344"/>
            </a:lvl6pPr>
            <a:lvl7pPr>
              <a:defRPr sz="2344"/>
            </a:lvl7pPr>
            <a:lvl8pPr>
              <a:defRPr sz="2344"/>
            </a:lvl8pPr>
            <a:lvl9pPr>
              <a:defRPr sz="2344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09682" y="1435102"/>
            <a:ext cx="4011605" cy="46910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93"/>
            </a:lvl1pPr>
            <a:lvl2pPr marL="549164" indent="0">
              <a:buNone/>
              <a:defRPr sz="1433"/>
            </a:lvl2pPr>
            <a:lvl3pPr marL="1098327" indent="0">
              <a:buNone/>
              <a:defRPr sz="1172"/>
            </a:lvl3pPr>
            <a:lvl4pPr marL="1647491" indent="0">
              <a:buNone/>
              <a:defRPr sz="1042"/>
            </a:lvl4pPr>
            <a:lvl5pPr marL="2196653" indent="0">
              <a:buNone/>
              <a:defRPr sz="1042"/>
            </a:lvl5pPr>
            <a:lvl6pPr marL="2745817" indent="0">
              <a:buNone/>
              <a:defRPr sz="1042"/>
            </a:lvl6pPr>
            <a:lvl7pPr marL="3294981" indent="0">
              <a:buNone/>
              <a:defRPr sz="1042"/>
            </a:lvl7pPr>
            <a:lvl8pPr marL="3844144" indent="0">
              <a:buNone/>
              <a:defRPr sz="1042"/>
            </a:lvl8pPr>
            <a:lvl9pPr marL="4393308" indent="0">
              <a:buNone/>
              <a:defRPr sz="1042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92E13E6D-85F5-0941-AD3B-DE6BB31EB06E}" type="datetimeFigureOut">
              <a:rPr lang="es-ES" smtClean="0"/>
              <a:t>11/12/2025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09E8914F-B8EF-0744-802A-5B8F87E583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740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90029" y="4800599"/>
            <a:ext cx="7316153" cy="566739"/>
          </a:xfrm>
          <a:prstGeom prst="rect">
            <a:avLst/>
          </a:prstGeom>
        </p:spPr>
        <p:txBody>
          <a:bodyPr anchor="b"/>
          <a:lstStyle>
            <a:lvl1pPr algn="l">
              <a:defRPr sz="2344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90029" y="612777"/>
            <a:ext cx="7316153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907"/>
            </a:lvl1pPr>
            <a:lvl2pPr marL="549164" indent="0">
              <a:buNone/>
              <a:defRPr sz="3387"/>
            </a:lvl2pPr>
            <a:lvl3pPr marL="1098327" indent="0">
              <a:buNone/>
              <a:defRPr sz="2865"/>
            </a:lvl3pPr>
            <a:lvl4pPr marL="1647491" indent="0">
              <a:buNone/>
              <a:defRPr sz="2344"/>
            </a:lvl4pPr>
            <a:lvl5pPr marL="2196653" indent="0">
              <a:buNone/>
              <a:defRPr sz="2344"/>
            </a:lvl5pPr>
            <a:lvl6pPr marL="2745817" indent="0">
              <a:buNone/>
              <a:defRPr sz="2344"/>
            </a:lvl6pPr>
            <a:lvl7pPr marL="3294981" indent="0">
              <a:buNone/>
              <a:defRPr sz="2344"/>
            </a:lvl7pPr>
            <a:lvl8pPr marL="3844144" indent="0">
              <a:buNone/>
              <a:defRPr sz="2344"/>
            </a:lvl8pPr>
            <a:lvl9pPr marL="4393308" indent="0">
              <a:buNone/>
              <a:defRPr sz="2344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90029" y="5367339"/>
            <a:ext cx="7316153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93"/>
            </a:lvl1pPr>
            <a:lvl2pPr marL="549164" indent="0">
              <a:buNone/>
              <a:defRPr sz="1433"/>
            </a:lvl2pPr>
            <a:lvl3pPr marL="1098327" indent="0">
              <a:buNone/>
              <a:defRPr sz="1172"/>
            </a:lvl3pPr>
            <a:lvl4pPr marL="1647491" indent="0">
              <a:buNone/>
              <a:defRPr sz="1042"/>
            </a:lvl4pPr>
            <a:lvl5pPr marL="2196653" indent="0">
              <a:buNone/>
              <a:defRPr sz="1042"/>
            </a:lvl5pPr>
            <a:lvl6pPr marL="2745817" indent="0">
              <a:buNone/>
              <a:defRPr sz="1042"/>
            </a:lvl6pPr>
            <a:lvl7pPr marL="3294981" indent="0">
              <a:buNone/>
              <a:defRPr sz="1042"/>
            </a:lvl7pPr>
            <a:lvl8pPr marL="3844144" indent="0">
              <a:buNone/>
              <a:defRPr sz="1042"/>
            </a:lvl8pPr>
            <a:lvl9pPr marL="4393308" indent="0">
              <a:buNone/>
              <a:defRPr sz="1042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92E13E6D-85F5-0941-AD3B-DE6BB31EB06E}" type="datetimeFigureOut">
              <a:rPr lang="es-ES" smtClean="0"/>
              <a:t>11/12/2025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09E8914F-B8EF-0744-802A-5B8F87E583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969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81" y="274638"/>
            <a:ext cx="10974230" cy="1143000"/>
          </a:xfrm>
          <a:prstGeom prst="rect">
            <a:avLst/>
          </a:prstGeo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09681" y="1600200"/>
            <a:ext cx="1097423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92E13E6D-85F5-0941-AD3B-DE6BB31EB06E}" type="datetimeFigureOut">
              <a:rPr lang="es-ES" smtClean="0"/>
              <a:t>11/12/2025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09E8914F-B8EF-0744-802A-5B8F87E583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7271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40352" y="274638"/>
            <a:ext cx="2743557" cy="5851525"/>
          </a:xfrm>
          <a:prstGeom prst="rect">
            <a:avLst/>
          </a:prstGeo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09680" y="274638"/>
            <a:ext cx="8027446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7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92E13E6D-85F5-0941-AD3B-DE6BB31EB06E}" type="datetimeFigureOut">
              <a:rPr lang="es-ES" smtClean="0"/>
              <a:t>11/12/2025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66144" y="6356352"/>
            <a:ext cx="3861303" cy="36512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738739" y="6356352"/>
            <a:ext cx="2845170" cy="365124"/>
          </a:xfrm>
          <a:prstGeom prst="rect">
            <a:avLst/>
          </a:prstGeom>
        </p:spPr>
        <p:txBody>
          <a:bodyPr/>
          <a:lstStyle/>
          <a:p>
            <a:fld id="{09E8914F-B8EF-0744-802A-5B8F87E583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1201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FE719049-0792-3C47-8B7F-6A2B8796E36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261" y="0"/>
            <a:ext cx="12187066" cy="68580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83BDCB3-BDA9-9F48-A911-03AD84A91034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/>
          <a:stretch/>
        </p:blipFill>
        <p:spPr>
          <a:xfrm>
            <a:off x="6433" y="3172"/>
            <a:ext cx="12180722" cy="685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764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49164" rtl="0" eaLnBrk="1" latinLnBrk="0" hangingPunct="1">
        <a:spcBef>
          <a:spcPct val="0"/>
        </a:spcBef>
        <a:buNone/>
        <a:defRPr sz="53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1872" indent="-411872" algn="l" defTabSz="549164" rtl="0" eaLnBrk="1" latinLnBrk="0" hangingPunct="1">
        <a:spcBef>
          <a:spcPct val="20000"/>
        </a:spcBef>
        <a:buFont typeface="Arial"/>
        <a:buChar char="•"/>
        <a:defRPr sz="3907" kern="1200">
          <a:solidFill>
            <a:schemeClr val="tx1"/>
          </a:solidFill>
          <a:latin typeface="+mn-lt"/>
          <a:ea typeface="+mn-ea"/>
          <a:cs typeface="+mn-cs"/>
        </a:defRPr>
      </a:lvl1pPr>
      <a:lvl2pPr marL="892390" indent="-343228" algn="l" defTabSz="549164" rtl="0" eaLnBrk="1" latinLnBrk="0" hangingPunct="1">
        <a:spcBef>
          <a:spcPct val="20000"/>
        </a:spcBef>
        <a:buFont typeface="Arial"/>
        <a:buChar char="–"/>
        <a:defRPr sz="3387" kern="1200">
          <a:solidFill>
            <a:schemeClr val="tx1"/>
          </a:solidFill>
          <a:latin typeface="+mn-lt"/>
          <a:ea typeface="+mn-ea"/>
          <a:cs typeface="+mn-cs"/>
        </a:defRPr>
      </a:lvl2pPr>
      <a:lvl3pPr marL="1372909" indent="-274582" algn="l" defTabSz="549164" rtl="0" eaLnBrk="1" latinLnBrk="0" hangingPunct="1">
        <a:spcBef>
          <a:spcPct val="20000"/>
        </a:spcBef>
        <a:buFont typeface="Arial"/>
        <a:buChar char="•"/>
        <a:defRPr sz="2865" kern="1200">
          <a:solidFill>
            <a:schemeClr val="tx1"/>
          </a:solidFill>
          <a:latin typeface="+mn-lt"/>
          <a:ea typeface="+mn-ea"/>
          <a:cs typeface="+mn-cs"/>
        </a:defRPr>
      </a:lvl3pPr>
      <a:lvl4pPr marL="1922071" indent="-274582" algn="l" defTabSz="549164" rtl="0" eaLnBrk="1" latinLnBrk="0" hangingPunct="1">
        <a:spcBef>
          <a:spcPct val="20000"/>
        </a:spcBef>
        <a:buFont typeface="Arial"/>
        <a:buChar char="–"/>
        <a:defRPr sz="2344" kern="1200">
          <a:solidFill>
            <a:schemeClr val="tx1"/>
          </a:solidFill>
          <a:latin typeface="+mn-lt"/>
          <a:ea typeface="+mn-ea"/>
          <a:cs typeface="+mn-cs"/>
        </a:defRPr>
      </a:lvl4pPr>
      <a:lvl5pPr marL="2471236" indent="-274582" algn="l" defTabSz="549164" rtl="0" eaLnBrk="1" latinLnBrk="0" hangingPunct="1">
        <a:spcBef>
          <a:spcPct val="20000"/>
        </a:spcBef>
        <a:buFont typeface="Arial"/>
        <a:buChar char="»"/>
        <a:defRPr sz="2344" kern="1200">
          <a:solidFill>
            <a:schemeClr val="tx1"/>
          </a:solidFill>
          <a:latin typeface="+mn-lt"/>
          <a:ea typeface="+mn-ea"/>
          <a:cs typeface="+mn-cs"/>
        </a:defRPr>
      </a:lvl5pPr>
      <a:lvl6pPr marL="3020399" indent="-274582" algn="l" defTabSz="549164" rtl="0" eaLnBrk="1" latinLnBrk="0" hangingPunct="1">
        <a:spcBef>
          <a:spcPct val="20000"/>
        </a:spcBef>
        <a:buFont typeface="Arial"/>
        <a:buChar char="•"/>
        <a:defRPr sz="2344" kern="1200">
          <a:solidFill>
            <a:schemeClr val="tx1"/>
          </a:solidFill>
          <a:latin typeface="+mn-lt"/>
          <a:ea typeface="+mn-ea"/>
          <a:cs typeface="+mn-cs"/>
        </a:defRPr>
      </a:lvl6pPr>
      <a:lvl7pPr marL="3569563" indent="-274582" algn="l" defTabSz="549164" rtl="0" eaLnBrk="1" latinLnBrk="0" hangingPunct="1">
        <a:spcBef>
          <a:spcPct val="20000"/>
        </a:spcBef>
        <a:buFont typeface="Arial"/>
        <a:buChar char="•"/>
        <a:defRPr sz="2344" kern="1200">
          <a:solidFill>
            <a:schemeClr val="tx1"/>
          </a:solidFill>
          <a:latin typeface="+mn-lt"/>
          <a:ea typeface="+mn-ea"/>
          <a:cs typeface="+mn-cs"/>
        </a:defRPr>
      </a:lvl7pPr>
      <a:lvl8pPr marL="4118726" indent="-274582" algn="l" defTabSz="549164" rtl="0" eaLnBrk="1" latinLnBrk="0" hangingPunct="1">
        <a:spcBef>
          <a:spcPct val="20000"/>
        </a:spcBef>
        <a:buFont typeface="Arial"/>
        <a:buChar char="•"/>
        <a:defRPr sz="2344" kern="1200">
          <a:solidFill>
            <a:schemeClr val="tx1"/>
          </a:solidFill>
          <a:latin typeface="+mn-lt"/>
          <a:ea typeface="+mn-ea"/>
          <a:cs typeface="+mn-cs"/>
        </a:defRPr>
      </a:lvl8pPr>
      <a:lvl9pPr marL="4667890" indent="-274582" algn="l" defTabSz="549164" rtl="0" eaLnBrk="1" latinLnBrk="0" hangingPunct="1">
        <a:spcBef>
          <a:spcPct val="20000"/>
        </a:spcBef>
        <a:buFont typeface="Arial"/>
        <a:buChar char="•"/>
        <a:defRPr sz="234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549164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1pPr>
      <a:lvl2pPr marL="549164" algn="l" defTabSz="549164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2pPr>
      <a:lvl3pPr marL="1098327" algn="l" defTabSz="549164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3pPr>
      <a:lvl4pPr marL="1647491" algn="l" defTabSz="549164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4pPr>
      <a:lvl5pPr marL="2196653" algn="l" defTabSz="549164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5pPr>
      <a:lvl6pPr marL="2745817" algn="l" defTabSz="549164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6pPr>
      <a:lvl7pPr marL="3294981" algn="l" defTabSz="549164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7pPr>
      <a:lvl8pPr marL="3844144" algn="l" defTabSz="549164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8pPr>
      <a:lvl9pPr marL="4393308" algn="l" defTabSz="549164" rtl="0" eaLnBrk="1" latinLnBrk="0" hangingPunct="1">
        <a:defRPr sz="221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raw.githubusercontent.com/datasciencedojo/datasets/master/titanic.csv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8670C35-A438-71F9-8192-3C6CBAEB636C}"/>
              </a:ext>
            </a:extLst>
          </p:cNvPr>
          <p:cNvSpPr txBox="1"/>
          <p:nvPr/>
        </p:nvSpPr>
        <p:spPr>
          <a:xfrm>
            <a:off x="5715000" y="3960514"/>
            <a:ext cx="6093372" cy="183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b="1" dirty="0"/>
              <a:t>ANÁLISIS DEL DATASET DEL TITANIC</a:t>
            </a:r>
          </a:p>
          <a:p>
            <a:pPr algn="ctr">
              <a:buNone/>
            </a:pPr>
            <a:endParaRPr lang="es-ES" b="1" dirty="0"/>
          </a:p>
          <a:p>
            <a:pPr algn="ctr">
              <a:buNone/>
            </a:pPr>
            <a:r>
              <a:rPr lang="es-ES" b="1" dirty="0"/>
              <a:t>INTEGRANTES:</a:t>
            </a:r>
          </a:p>
          <a:p>
            <a:pPr algn="ctr">
              <a:buNone/>
            </a:pPr>
            <a:r>
              <a:rPr lang="es-ES" b="1" dirty="0"/>
              <a:t>DANIEL FELIPE CERQUERA IDROBO</a:t>
            </a:r>
          </a:p>
          <a:p>
            <a:pPr algn="ctr">
              <a:buNone/>
            </a:pPr>
            <a:r>
              <a:rPr lang="es-ES" b="1" dirty="0"/>
              <a:t>JOSE ANDRES CARDONA ROJAS</a:t>
            </a:r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C8CD435-B126-6EC5-0084-2A2AD235BAD5}"/>
              </a:ext>
            </a:extLst>
          </p:cNvPr>
          <p:cNvSpPr txBox="1"/>
          <p:nvPr/>
        </p:nvSpPr>
        <p:spPr>
          <a:xfrm>
            <a:off x="6294383" y="1061727"/>
            <a:ext cx="4934607" cy="2533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b="1" dirty="0"/>
              <a:t>CORPORACION UNIVERSITARIA DEL HUILA (CORHUILA)</a:t>
            </a:r>
          </a:p>
          <a:p>
            <a:pPr algn="ctr">
              <a:buNone/>
            </a:pPr>
            <a:r>
              <a:rPr lang="es-ES" b="1" dirty="0"/>
              <a:t>PROGRAMA DE INGENIERIA</a:t>
            </a:r>
          </a:p>
          <a:p>
            <a:pPr algn="ctr">
              <a:buNone/>
            </a:pPr>
            <a:r>
              <a:rPr lang="es-ES" b="1" dirty="0"/>
              <a:t>INGENIERIA DE SISTEMAS</a:t>
            </a:r>
          </a:p>
          <a:p>
            <a:pPr algn="ctr">
              <a:buNone/>
            </a:pPr>
            <a:endParaRPr lang="es-ES" b="1" dirty="0"/>
          </a:p>
          <a:p>
            <a:pPr algn="ctr">
              <a:buNone/>
            </a:pPr>
            <a:r>
              <a:rPr lang="es-ES" b="1" dirty="0"/>
              <a:t>PROYECTO FINAL –  ANALITICA DE DATOS</a:t>
            </a:r>
          </a:p>
        </p:txBody>
      </p:sp>
      <p:pic>
        <p:nvPicPr>
          <p:cNvPr id="1026" name="Picture 2" descr="Analítica de Datos Aplicada a Riesgos Laborales y Seguridad y Salud en el  Trabajo | Universidad de Bogotá Jorge Tadeo Lozano">
            <a:extLst>
              <a:ext uri="{FF2B5EF4-FFF2-40B4-BE49-F238E27FC236}">
                <a16:creationId xmlns:a16="http://schemas.microsoft.com/office/drawing/2014/main" id="{C398C671-AAF1-97A4-89D4-6C519D7359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06887"/>
            <a:ext cx="5149404" cy="3036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9348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032708A-1214-4835-B9F6-FDA1D53459A7}"/>
              </a:ext>
            </a:extLst>
          </p:cNvPr>
          <p:cNvSpPr txBox="1"/>
          <p:nvPr/>
        </p:nvSpPr>
        <p:spPr>
          <a:xfrm>
            <a:off x="1392758" y="1639407"/>
            <a:ext cx="9408072" cy="3579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b="1" dirty="0"/>
              <a:t>Objetivo General:</a:t>
            </a:r>
            <a:br>
              <a:rPr lang="es-ES" dirty="0"/>
            </a:br>
            <a:r>
              <a:rPr lang="es-ES" dirty="0"/>
              <a:t>Analizar el </a:t>
            </a:r>
            <a:r>
              <a:rPr lang="es-ES" dirty="0" err="1"/>
              <a:t>dataset</a:t>
            </a:r>
            <a:r>
              <a:rPr lang="es-ES" dirty="0"/>
              <a:t> del </a:t>
            </a:r>
            <a:r>
              <a:rPr lang="es-ES" dirty="0" err="1"/>
              <a:t>Titanic</a:t>
            </a:r>
            <a:r>
              <a:rPr lang="es-ES" dirty="0"/>
              <a:t> para identificar patrones relacionados con la supervivencia de los pasajeros mediante exploración, limpieza y visualización de datos.</a:t>
            </a:r>
          </a:p>
          <a:p>
            <a:pPr algn="ctr">
              <a:buNone/>
            </a:pPr>
            <a:r>
              <a:rPr lang="es-ES" b="1" dirty="0"/>
              <a:t>Objetivos específicos:</a:t>
            </a:r>
            <a:endParaRPr lang="es-ES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es-ES" dirty="0"/>
              <a:t>Importar y comprender la estructura del </a:t>
            </a:r>
            <a:r>
              <a:rPr lang="es-ES" dirty="0" err="1"/>
              <a:t>dataset</a:t>
            </a:r>
            <a:r>
              <a:rPr lang="es-ES" dirty="0"/>
              <a:t>.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s-ES" dirty="0"/>
              <a:t>Detectar y manejar valores faltantes.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s-ES" dirty="0"/>
              <a:t>Limpiar datos inconsistentes.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s-ES" dirty="0"/>
              <a:t>Analizar variables clave como edad, sexo, clase y tarifa.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s-ES" dirty="0"/>
              <a:t>Generar conclusiones basadas en evidencia.</a:t>
            </a:r>
          </a:p>
        </p:txBody>
      </p:sp>
    </p:spTree>
    <p:extLst>
      <p:ext uri="{BB962C8B-B14F-4D97-AF65-F5344CB8AC3E}">
        <p14:creationId xmlns:p14="http://schemas.microsoft.com/office/powerpoint/2010/main" val="1860473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335A778-ED3C-592F-0312-D32162185D5A}"/>
              </a:ext>
            </a:extLst>
          </p:cNvPr>
          <p:cNvSpPr txBox="1"/>
          <p:nvPr/>
        </p:nvSpPr>
        <p:spPr>
          <a:xfrm>
            <a:off x="177362" y="417995"/>
            <a:ext cx="609337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es-ES" sz="2000" dirty="0"/>
              <a:t>Se importaron las librerías principales: </a:t>
            </a:r>
            <a:r>
              <a:rPr lang="es-ES" sz="2000" dirty="0" err="1"/>
              <a:t>Pandas,Numpy</a:t>
            </a:r>
            <a:r>
              <a:rPr lang="es-ES" sz="2000" dirty="0"/>
              <a:t>, </a:t>
            </a:r>
            <a:r>
              <a:rPr lang="es-ES" sz="2000" dirty="0" err="1"/>
              <a:t>Matplotlib</a:t>
            </a:r>
            <a:r>
              <a:rPr lang="es-ES" sz="2000" dirty="0"/>
              <a:t>, </a:t>
            </a:r>
            <a:r>
              <a:rPr lang="es-ES" sz="2000" dirty="0" err="1"/>
              <a:t>seaborn</a:t>
            </a:r>
            <a:r>
              <a:rPr lang="es-ES" sz="2000" dirty="0"/>
              <a:t>, </a:t>
            </a:r>
            <a:r>
              <a:rPr lang="es-ES" sz="2000" dirty="0" err="1"/>
              <a:t>Warnings</a:t>
            </a:r>
            <a:endParaRPr lang="es-ES" sz="2000" dirty="0"/>
          </a:p>
          <a:p>
            <a:pPr marL="342900" indent="-342900">
              <a:buFontTx/>
              <a:buChar char="-"/>
            </a:pPr>
            <a:r>
              <a:rPr lang="es-ES" sz="2000" dirty="0"/>
              <a:t>Se cargo el </a:t>
            </a:r>
            <a:r>
              <a:rPr lang="es-ES" sz="2000" dirty="0" err="1"/>
              <a:t>dataset</a:t>
            </a:r>
            <a:r>
              <a:rPr lang="es-ES" sz="2000" dirty="0"/>
              <a:t> desde: </a:t>
            </a:r>
            <a:r>
              <a:rPr lang="es-CO" sz="2000" dirty="0">
                <a:hlinkClick r:id="rId2"/>
              </a:rPr>
              <a:t>https://raw.githubusercontent.com/datasciencedojo/datasets/master/titanic.csv</a:t>
            </a:r>
            <a:endParaRPr lang="es-CO" sz="2000" dirty="0"/>
          </a:p>
          <a:p>
            <a:pPr marL="342900" indent="-342900">
              <a:buFontTx/>
              <a:buChar char="-"/>
            </a:pPr>
            <a:r>
              <a:rPr lang="es-CO" sz="2000" dirty="0"/>
              <a:t>El </a:t>
            </a:r>
            <a:r>
              <a:rPr lang="es-CO" sz="2000" dirty="0" err="1"/>
              <a:t>dataset</a:t>
            </a:r>
            <a:r>
              <a:rPr lang="es-CO" sz="2000" dirty="0"/>
              <a:t> tiene unas dimensiones de 891 filas x 12 columnas.</a:t>
            </a:r>
          </a:p>
          <a:p>
            <a:r>
              <a:rPr lang="es-CO" sz="2000" b="1" i="1" dirty="0"/>
              <a:t>Imagen 1</a:t>
            </a:r>
            <a:r>
              <a:rPr lang="es-CO" sz="2000" dirty="0"/>
              <a:t>. Captura de las 10 primeras filas del </a:t>
            </a:r>
            <a:r>
              <a:rPr lang="es-CO" sz="2000" dirty="0" err="1"/>
              <a:t>dataset</a:t>
            </a:r>
            <a:r>
              <a:rPr lang="es-CO" sz="2000" dirty="0"/>
              <a:t>.</a:t>
            </a:r>
            <a:endParaRPr lang="es-ES" sz="2000" dirty="0"/>
          </a:p>
          <a:p>
            <a:endParaRPr lang="es-CO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F552A89-1E17-A3D6-FFDA-01FDA193C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43" y="3168869"/>
            <a:ext cx="12012701" cy="3271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973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55CA8E4-AD5A-7B33-4F3D-0DB1B3FDFD62}"/>
              </a:ext>
            </a:extLst>
          </p:cNvPr>
          <p:cNvSpPr txBox="1"/>
          <p:nvPr/>
        </p:nvSpPr>
        <p:spPr>
          <a:xfrm>
            <a:off x="3046686" y="1290722"/>
            <a:ext cx="6093372" cy="4276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b="1" dirty="0"/>
              <a:t>Variables más importantes del </a:t>
            </a:r>
            <a:r>
              <a:rPr lang="es-ES" b="1" dirty="0" err="1"/>
              <a:t>dataset</a:t>
            </a:r>
            <a:r>
              <a:rPr lang="es-ES" b="1" dirty="0"/>
              <a:t>:</a:t>
            </a:r>
            <a:endParaRPr lang="es-ES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es-ES" b="1" dirty="0" err="1"/>
              <a:t>PassengerId</a:t>
            </a:r>
            <a:r>
              <a:rPr lang="es-ES" b="1" dirty="0"/>
              <a:t>:</a:t>
            </a:r>
            <a:r>
              <a:rPr lang="es-ES" dirty="0"/>
              <a:t> Identificador del pasajero.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s-ES" b="1" dirty="0" err="1"/>
              <a:t>Survived</a:t>
            </a:r>
            <a:r>
              <a:rPr lang="es-ES" b="1" dirty="0"/>
              <a:t>:</a:t>
            </a:r>
            <a:r>
              <a:rPr lang="es-ES" dirty="0"/>
              <a:t> (0 = no, 1 = sí) variable objetivo.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s-ES" b="1" dirty="0" err="1"/>
              <a:t>Pclass</a:t>
            </a:r>
            <a:r>
              <a:rPr lang="es-ES" b="1" dirty="0"/>
              <a:t>:</a:t>
            </a:r>
            <a:r>
              <a:rPr lang="es-ES" dirty="0"/>
              <a:t> Clase del pasajero (1, 2, 3).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s-ES" b="1" dirty="0" err="1"/>
              <a:t>Name</a:t>
            </a:r>
            <a:r>
              <a:rPr lang="es-ES" b="1" dirty="0"/>
              <a:t> / Sex / Age:</a:t>
            </a:r>
            <a:r>
              <a:rPr lang="es-ES" dirty="0"/>
              <a:t> Información personal.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s-ES" b="1" dirty="0" err="1"/>
              <a:t>SibSp</a:t>
            </a:r>
            <a:r>
              <a:rPr lang="es-ES" b="1" dirty="0"/>
              <a:t> / </a:t>
            </a:r>
            <a:r>
              <a:rPr lang="es-ES" b="1" dirty="0" err="1"/>
              <a:t>Parch</a:t>
            </a:r>
            <a:r>
              <a:rPr lang="es-ES" b="1" dirty="0"/>
              <a:t>:</a:t>
            </a:r>
            <a:r>
              <a:rPr lang="es-ES" dirty="0"/>
              <a:t> Parientes a bordo.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s-ES" b="1" dirty="0"/>
              <a:t>Ticket / </a:t>
            </a:r>
            <a:r>
              <a:rPr lang="es-ES" b="1" dirty="0" err="1"/>
              <a:t>Fare</a:t>
            </a:r>
            <a:r>
              <a:rPr lang="es-ES" b="1" dirty="0"/>
              <a:t>:</a:t>
            </a:r>
            <a:r>
              <a:rPr lang="es-ES" dirty="0"/>
              <a:t> Información económica.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s-ES" b="1" dirty="0" err="1"/>
              <a:t>Cabin</a:t>
            </a:r>
            <a:r>
              <a:rPr lang="es-ES" b="1" dirty="0"/>
              <a:t>:</a:t>
            </a:r>
            <a:r>
              <a:rPr lang="es-ES" dirty="0"/>
              <a:t> Número de cabina (muy incompleto).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s-ES" b="1" dirty="0" err="1"/>
              <a:t>Embarked</a:t>
            </a:r>
            <a:r>
              <a:rPr lang="es-ES" b="1" dirty="0"/>
              <a:t>:</a:t>
            </a:r>
            <a:r>
              <a:rPr lang="es-ES" dirty="0"/>
              <a:t> Puerto de embarque.</a:t>
            </a:r>
          </a:p>
          <a:p>
            <a:pPr algn="ctr"/>
            <a:r>
              <a:rPr lang="es-ES" b="1" dirty="0"/>
              <a:t>Conclusión del análisis inicial:</a:t>
            </a:r>
            <a:br>
              <a:rPr lang="es-ES" dirty="0"/>
            </a:br>
            <a:r>
              <a:rPr lang="es-ES" dirty="0"/>
              <a:t>La supervivencia parece estar influenciada por la edad, el sexo y la clase del pasajero.</a:t>
            </a:r>
          </a:p>
        </p:txBody>
      </p:sp>
    </p:spTree>
    <p:extLst>
      <p:ext uri="{BB962C8B-B14F-4D97-AF65-F5344CB8AC3E}">
        <p14:creationId xmlns:p14="http://schemas.microsoft.com/office/powerpoint/2010/main" val="3100657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D96D2A9-24E0-5D20-A2DE-4C848D276A2D}"/>
              </a:ext>
            </a:extLst>
          </p:cNvPr>
          <p:cNvSpPr txBox="1"/>
          <p:nvPr/>
        </p:nvSpPr>
        <p:spPr>
          <a:xfrm>
            <a:off x="461141" y="525587"/>
            <a:ext cx="11378762" cy="2184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VALORES FALTANTES (NAN)</a:t>
            </a:r>
          </a:p>
          <a:p>
            <a:pPr>
              <a:buNone/>
            </a:pPr>
            <a:r>
              <a:rPr lang="pt-BR" dirty="0"/>
              <a:t>Resultados encontrados:</a:t>
            </a:r>
          </a:p>
          <a:p>
            <a:r>
              <a:rPr lang="es-ES" dirty="0"/>
              <a:t>-  Age le faltan 177 que en porcentaje es un 19.86%.</a:t>
            </a:r>
          </a:p>
          <a:p>
            <a:r>
              <a:rPr lang="es-ES" dirty="0"/>
              <a:t>-  </a:t>
            </a:r>
            <a:r>
              <a:rPr lang="es-ES" dirty="0" err="1"/>
              <a:t>Cabin</a:t>
            </a:r>
            <a:r>
              <a:rPr lang="es-ES" dirty="0"/>
              <a:t> le faltan 687 que en porcentaje son 77.11%.</a:t>
            </a:r>
          </a:p>
          <a:p>
            <a:r>
              <a:rPr lang="es-ES" dirty="0"/>
              <a:t>-  </a:t>
            </a:r>
            <a:r>
              <a:rPr lang="es-ES" dirty="0" err="1"/>
              <a:t>Embarked</a:t>
            </a:r>
            <a:r>
              <a:rPr lang="es-ES" dirty="0"/>
              <a:t> son solo 2 que representa un 0.22%.</a:t>
            </a:r>
          </a:p>
          <a:p>
            <a:endParaRPr lang="pt-BR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223B17A-58EA-37B8-E888-D0B87BE6F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641" y="2475186"/>
            <a:ext cx="7201905" cy="4216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438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268AD8B-FA42-63BD-99C4-754972D286D6}"/>
              </a:ext>
            </a:extLst>
          </p:cNvPr>
          <p:cNvSpPr txBox="1"/>
          <p:nvPr/>
        </p:nvSpPr>
        <p:spPr>
          <a:xfrm>
            <a:off x="3421" y="406009"/>
            <a:ext cx="12451337" cy="2881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b="1" dirty="0"/>
              <a:t>LIMPIEZA DE DATOS</a:t>
            </a:r>
          </a:p>
          <a:p>
            <a:pPr>
              <a:buNone/>
            </a:pPr>
            <a:r>
              <a:rPr lang="es-ES" b="1" dirty="0"/>
              <a:t>Acciones realizadas:</a:t>
            </a:r>
            <a:endParaRPr lang="es-ES" dirty="0"/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Se imputaron valores faltantes de </a:t>
            </a:r>
            <a:r>
              <a:rPr lang="es-ES" b="1" dirty="0"/>
              <a:t>Age</a:t>
            </a:r>
            <a:r>
              <a:rPr lang="es-ES" dirty="0"/>
              <a:t> usando la media.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Se eliminaron filas con </a:t>
            </a:r>
            <a:r>
              <a:rPr lang="es-ES" dirty="0" err="1"/>
              <a:t>Embarked</a:t>
            </a:r>
            <a:r>
              <a:rPr lang="es-ES" dirty="0"/>
              <a:t> vacío.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Se eliminó la columna </a:t>
            </a:r>
            <a:r>
              <a:rPr lang="es-ES" b="1" dirty="0" err="1"/>
              <a:t>Cabin</a:t>
            </a:r>
            <a:r>
              <a:rPr lang="es-ES" dirty="0"/>
              <a:t> por tener demasiados faltantes.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Se estandarizó el tipo de datos en columnas categóricas.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Se verificó la integridad del </a:t>
            </a:r>
            <a:r>
              <a:rPr lang="es-ES" dirty="0" err="1"/>
              <a:t>DataFrame</a:t>
            </a:r>
            <a:r>
              <a:rPr lang="es-ES" dirty="0"/>
              <a:t> después de limpiar.</a:t>
            </a:r>
            <a:br>
              <a:rPr lang="es-ES" dirty="0"/>
            </a:br>
            <a:r>
              <a:rPr lang="es-ES" dirty="0"/>
              <a:t>Con estas acciones se obtuvo un </a:t>
            </a:r>
            <a:r>
              <a:rPr lang="es-ES" dirty="0" err="1"/>
              <a:t>dataset</a:t>
            </a:r>
            <a:r>
              <a:rPr lang="es-ES" dirty="0"/>
              <a:t> depurado, sin valores nulos y listo para análisis.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0EF713D-0259-D4C4-747A-FF726FBAC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960" y="3570177"/>
            <a:ext cx="4610743" cy="294363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FC0814A-288B-CBA1-5771-5ACD3B6ADE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6735" y="3570177"/>
            <a:ext cx="3500228" cy="2881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180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24AB7AC-8B95-65E7-21C3-6C5AECAB0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6444"/>
            <a:ext cx="8316486" cy="4925112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5F37C6B3-0F60-1B13-067C-50C5777773E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387254" y="1042899"/>
            <a:ext cx="3657601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Las mujeres sobrevivieron en mayor proporción que los hombres.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Los hombres presentan una cantidad mucho mayor de fallecidos.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El sexo es uno de los factores más determinantes en la supervivencia del </a:t>
            </a:r>
            <a:r>
              <a:rPr kumimoji="0" lang="es-CO" altLang="es-CO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Titanic</a:t>
            </a:r>
            <a:r>
              <a:rPr kumimoji="0" lang="es-CO" altLang="es-CO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ES" sz="1800" dirty="0"/>
              <a:t>La diferencia entre grupos es clara:</a:t>
            </a:r>
            <a:br>
              <a:rPr lang="es-ES" sz="1800" dirty="0"/>
            </a:br>
            <a:r>
              <a:rPr lang="es-ES" sz="1800" dirty="0"/>
              <a:t>ser mujer aumentaba significativamente la probabilidad de sobrevivir, mientras que los hombres tenían una desventaja notable</a:t>
            </a:r>
            <a:endParaRPr kumimoji="0" lang="es-CO" altLang="es-CO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76801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107B2D1-8FE4-B174-7B08-EB696D30EAAC}"/>
              </a:ext>
            </a:extLst>
          </p:cNvPr>
          <p:cNvSpPr txBox="1"/>
          <p:nvPr/>
        </p:nvSpPr>
        <p:spPr>
          <a:xfrm>
            <a:off x="145831" y="622947"/>
            <a:ext cx="6093372" cy="441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/>
              <a:t>Preprocesamiento Numérico y Análisis Estadístico</a:t>
            </a:r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B22171C-8A14-99F8-7D36-75BF3B8127B8}"/>
              </a:ext>
            </a:extLst>
          </p:cNvPr>
          <p:cNvSpPr txBox="1"/>
          <p:nvPr/>
        </p:nvSpPr>
        <p:spPr>
          <a:xfrm>
            <a:off x="145830" y="1063965"/>
            <a:ext cx="12182803" cy="5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800" b="1" dirty="0"/>
              <a:t>1. Conversión de variables a numéricas</a:t>
            </a:r>
          </a:p>
          <a:p>
            <a:r>
              <a:rPr lang="es-ES" sz="1800" dirty="0"/>
              <a:t>Se transformaron las variables categóricas usando </a:t>
            </a:r>
            <a:r>
              <a:rPr lang="es-ES" sz="1800" b="1" dirty="0" err="1"/>
              <a:t>LabelEncoder</a:t>
            </a:r>
            <a:r>
              <a:rPr lang="es-ES" sz="1800" dirty="0"/>
              <a:t>, permitiendo que todas las columnas fueran interpretadas como valores numéricos. Esto es necesario para cálculos estadísticos y modelos que solo aceptan números.</a:t>
            </a:r>
          </a:p>
          <a:p>
            <a:r>
              <a:rPr lang="es-ES" sz="1800" b="1" dirty="0"/>
              <a:t>2. Normalización (</a:t>
            </a:r>
            <a:r>
              <a:rPr lang="es-ES" sz="1800" b="1" dirty="0" err="1"/>
              <a:t>MinMaxScaler</a:t>
            </a:r>
            <a:r>
              <a:rPr lang="es-ES" sz="1800" b="1" dirty="0"/>
              <a:t>)</a:t>
            </a:r>
          </a:p>
          <a:p>
            <a:r>
              <a:rPr lang="es-ES" sz="1800" dirty="0"/>
              <a:t>Se aplicó </a:t>
            </a:r>
            <a:r>
              <a:rPr lang="es-ES" sz="1800" b="1" dirty="0" err="1"/>
              <a:t>MinMaxScaler</a:t>
            </a:r>
            <a:r>
              <a:rPr lang="es-ES" sz="1800" dirty="0"/>
              <a:t>, llevando todas las variables al rango </a:t>
            </a:r>
            <a:r>
              <a:rPr lang="es-ES" sz="1800" b="1" dirty="0"/>
              <a:t>[0, 1]</a:t>
            </a:r>
            <a:r>
              <a:rPr lang="es-ES" sz="1800" dirty="0"/>
              <a:t>.</a:t>
            </a:r>
            <a:br>
              <a:rPr lang="es-ES" sz="1800" dirty="0"/>
            </a:br>
            <a:r>
              <a:rPr lang="es-ES" sz="1800" dirty="0"/>
              <a:t>Esto evita que las diferencias de magnitud entre columnas (por ejemplo </a:t>
            </a:r>
            <a:r>
              <a:rPr lang="es-ES" sz="1800" dirty="0" err="1"/>
              <a:t>Fare</a:t>
            </a:r>
            <a:r>
              <a:rPr lang="es-ES" sz="1800" dirty="0"/>
              <a:t> vs Age) distorsionen análisis y modelos sensibles a escala.</a:t>
            </a:r>
          </a:p>
          <a:p>
            <a:r>
              <a:rPr lang="es-ES" sz="1800" b="1" dirty="0"/>
              <a:t>3. Correlación (Spearman)</a:t>
            </a:r>
          </a:p>
          <a:p>
            <a:r>
              <a:rPr lang="es-ES" sz="1800" dirty="0"/>
              <a:t>Se calculó la correlación mediante </a:t>
            </a:r>
            <a:r>
              <a:rPr lang="es-ES" sz="1800" b="1" dirty="0"/>
              <a:t>Spearman</a:t>
            </a:r>
            <a:r>
              <a:rPr lang="es-ES" sz="1800" dirty="0"/>
              <a:t>, ya que no asume normalidad.</a:t>
            </a:r>
            <a:br>
              <a:rPr lang="es-ES" sz="1800" dirty="0"/>
            </a:br>
            <a:r>
              <a:rPr lang="es-ES" sz="1800" dirty="0"/>
              <a:t>Principales relaciones encontradas:</a:t>
            </a:r>
          </a:p>
          <a:p>
            <a:r>
              <a:rPr lang="es-ES" sz="1800" b="1" dirty="0" err="1"/>
              <a:t>Pclass</a:t>
            </a:r>
            <a:r>
              <a:rPr lang="es-ES" sz="1800" b="1" dirty="0"/>
              <a:t> y </a:t>
            </a:r>
            <a:r>
              <a:rPr lang="es-ES" sz="1800" b="1" dirty="0" err="1"/>
              <a:t>Fare</a:t>
            </a:r>
            <a:r>
              <a:rPr lang="es-ES" sz="1800" dirty="0"/>
              <a:t> presentan correlación negativa fuerte → indica redundancia entre ambas.</a:t>
            </a:r>
          </a:p>
          <a:p>
            <a:r>
              <a:rPr lang="es-ES" sz="1800" b="1" dirty="0"/>
              <a:t>Sex y </a:t>
            </a:r>
            <a:r>
              <a:rPr lang="es-ES" sz="1800" b="1" dirty="0" err="1"/>
              <a:t>Survived</a:t>
            </a:r>
            <a:r>
              <a:rPr lang="es-ES" sz="1800" dirty="0"/>
              <a:t> muestran correlación alta → el sexo es un predictor importante de supervivencia.</a:t>
            </a:r>
          </a:p>
          <a:p>
            <a:r>
              <a:rPr lang="es-ES" sz="1800" b="1" dirty="0"/>
              <a:t>4. Normalidad (Shapiro–</a:t>
            </a:r>
            <a:r>
              <a:rPr lang="es-ES" sz="1800" b="1" dirty="0" err="1"/>
              <a:t>Wilk</a:t>
            </a:r>
            <a:r>
              <a:rPr lang="es-ES" sz="1800" b="1" dirty="0"/>
              <a:t>)</a:t>
            </a:r>
          </a:p>
          <a:p>
            <a:r>
              <a:rPr lang="es-ES" sz="1800" dirty="0"/>
              <a:t>La mayoría de las variables </a:t>
            </a:r>
            <a:r>
              <a:rPr lang="es-ES" sz="1800" b="1" dirty="0"/>
              <a:t>no siguen una distribución normal</a:t>
            </a:r>
            <a:r>
              <a:rPr lang="es-ES" sz="1800" dirty="0"/>
              <a:t> (p ≤ 0.05).</a:t>
            </a:r>
            <a:br>
              <a:rPr lang="es-ES" sz="1800" dirty="0"/>
            </a:br>
            <a:r>
              <a:rPr lang="es-ES" sz="1800" dirty="0"/>
              <a:t>Esto valida el uso de técnicas no paramétricas como Spearman y sugiere preferir transformaciones o métodos robustos en modelado.</a:t>
            </a:r>
          </a:p>
          <a:p>
            <a:endParaRPr lang="es-ES" sz="1800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151564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625</Words>
  <Application>Microsoft Office PowerPoint</Application>
  <PresentationFormat>Personalizado</PresentationFormat>
  <Paragraphs>58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0" baseType="lpstr"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Katherine Bello</dc:creator>
  <cp:lastModifiedBy>Daniel Cerquera</cp:lastModifiedBy>
  <cp:revision>11</cp:revision>
  <dcterms:created xsi:type="dcterms:W3CDTF">2020-08-21T13:03:05Z</dcterms:created>
  <dcterms:modified xsi:type="dcterms:W3CDTF">2025-12-11T15:36:26Z</dcterms:modified>
</cp:coreProperties>
</file>